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E7FF"/>
                </a:solidFill>
                <a:latin typeface="Arial"/>
              </a:rPr>
              <a:t>DIGITAL TWIN CHALLENGE 2026  ·  PROTOTYPE &amp; CODE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7315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E9F6F8"/>
                </a:solidFill>
                <a:latin typeface="Arial"/>
              </a:rPr>
              <a:t>VITALTWIN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4C95D"/>
                </a:solidFill>
                <a:latin typeface="Arial"/>
              </a:rPr>
              <a:t>“Your health. Your baseline. Your digital twin.”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9504"/>
            <a:ext cx="6583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7C7C8"/>
                </a:solidFill>
                <a:latin typeface="Arial"/>
              </a:rPr>
              <a:t>An intelligent patient Digital Twin prototype that learns a personal baseline, observes changing health signals, detects meaningful deviations, and explains what it sees.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" y="3817620"/>
            <a:ext cx="5532120" cy="2084831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767328"/>
            <a:ext cx="5532120" cy="2084831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950208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E7FF"/>
                </a:solidFill>
                <a:latin typeface="Arial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26110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F9698"/>
                </a:solidFill>
                <a:latin typeface="Arial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2291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After Eclipse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71830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F9698"/>
                </a:solidFill>
                <a:latin typeface="Arial"/>
              </a:rPr>
              <a:t>TEAM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6863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Akash Selvaraj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517550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F9698"/>
                </a:solidFill>
                <a:latin typeface="Arial"/>
              </a:rPr>
              <a:t>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1435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SRM Institute of Science and Technology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5513832"/>
            <a:ext cx="2423160" cy="274320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527548"/>
            <a:ext cx="2423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0F12"/>
                </a:solidFill>
                <a:latin typeface="Arial"/>
              </a:rPr>
              <a:t>MIT LICENSE  ·  OPEN SOURCE</a:t>
            </a:r>
          </a:p>
        </p:txBody>
      </p:sp>
      <p:sp>
        <p:nvSpPr>
          <p:cNvPr id="19" name="Oval 18"/>
          <p:cNvSpPr/>
          <p:nvPr/>
        </p:nvSpPr>
        <p:spPr>
          <a:xfrm>
            <a:off x="7575804" y="900683"/>
            <a:ext cx="3776472" cy="3776472"/>
          </a:xfrm>
          <a:prstGeom prst="ellipse">
            <a:avLst/>
          </a:prstGeom>
          <a:noFill/>
          <a:ln w="2032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88325" y="1413205"/>
            <a:ext cx="2751429" cy="2751429"/>
          </a:xfrm>
          <a:prstGeom prst="ellipse">
            <a:avLst/>
          </a:prstGeom>
          <a:noFill/>
          <a:ln w="3302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54796" y="1979676"/>
            <a:ext cx="1618488" cy="1618488"/>
          </a:xfrm>
          <a:prstGeom prst="ellipse">
            <a:avLst/>
          </a:prstGeom>
          <a:solidFill>
            <a:srgbClr val="0B171A"/>
          </a:solidFill>
          <a:ln w="2794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791602" y="2510107"/>
            <a:ext cx="3344875" cy="557623"/>
          </a:xfrm>
          <a:custGeom>
            <a:avLst/>
            <a:gdLst/>
            <a:ahLst/>
            <a:cxnLst/>
            <a:rect l="l" t="t" r="r" b="b"/>
            <a:pathLst>
              <a:path w="3344875" h="557623">
                <a:moveTo>
                  <a:pt x="0" y="278812"/>
                </a:moveTo>
                <a:lnTo>
                  <a:pt x="334487" y="278812"/>
                </a:lnTo>
                <a:lnTo>
                  <a:pt x="434833" y="161417"/>
                </a:lnTo>
                <a:lnTo>
                  <a:pt x="535180" y="381531"/>
                </a:lnTo>
                <a:lnTo>
                  <a:pt x="635526" y="278812"/>
                </a:lnTo>
                <a:lnTo>
                  <a:pt x="936565" y="278812"/>
                </a:lnTo>
                <a:lnTo>
                  <a:pt x="1036911" y="249463"/>
                </a:lnTo>
                <a:lnTo>
                  <a:pt x="1137257" y="308160"/>
                </a:lnTo>
                <a:lnTo>
                  <a:pt x="1237603" y="278812"/>
                </a:lnTo>
                <a:lnTo>
                  <a:pt x="1572091" y="278812"/>
                </a:lnTo>
                <a:lnTo>
                  <a:pt x="1672437" y="0"/>
                </a:lnTo>
                <a:lnTo>
                  <a:pt x="1772783" y="557623"/>
                </a:lnTo>
                <a:lnTo>
                  <a:pt x="1873130" y="278812"/>
                </a:lnTo>
                <a:lnTo>
                  <a:pt x="2207617" y="278812"/>
                </a:lnTo>
                <a:lnTo>
                  <a:pt x="2307963" y="220114"/>
                </a:lnTo>
                <a:lnTo>
                  <a:pt x="2408310" y="337509"/>
                </a:lnTo>
                <a:lnTo>
                  <a:pt x="2508656" y="278812"/>
                </a:lnTo>
                <a:lnTo>
                  <a:pt x="2876592" y="278812"/>
                </a:lnTo>
                <a:lnTo>
                  <a:pt x="2976938" y="132069"/>
                </a:lnTo>
                <a:lnTo>
                  <a:pt x="3077285" y="425554"/>
                </a:lnTo>
                <a:lnTo>
                  <a:pt x="3177631" y="278812"/>
                </a:lnTo>
                <a:lnTo>
                  <a:pt x="3344875" y="278812"/>
                </a:lnTo>
              </a:path>
            </a:pathLst>
          </a:custGeom>
          <a:noFill/>
          <a:ln w="3048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48638" y="2138937"/>
            <a:ext cx="137160" cy="137160"/>
          </a:xfrm>
          <a:prstGeom prst="ellipse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24937" y="1427590"/>
            <a:ext cx="137160" cy="137160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83317" y="1528936"/>
            <a:ext cx="137160" cy="137160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24298" y="2364278"/>
            <a:ext cx="137160" cy="137160"/>
          </a:xfrm>
          <a:prstGeom prst="ellipse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86863" y="3408197"/>
            <a:ext cx="137160" cy="137160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48638" y="3301742"/>
            <a:ext cx="137160" cy="137160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4736592"/>
            <a:ext cx="3520440" cy="274320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750307"/>
            <a:ext cx="35204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80F12"/>
                </a:solidFill>
                <a:latin typeface="Arial"/>
              </a:rPr>
              <a:t>SYNTHETIC / SIMULATED PROTOTYPE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175504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A living, personalized representation of a patient's physiological state — non-diagnostic, browser-local, and fully explainable.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98932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F9698"/>
                </a:solidFill>
                <a:latin typeface="Consolas"/>
              </a:rPr>
              <a:t>github.com/Akash-Selvaraj-R/VitalTwin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HEALTHCARE IS OFTEN REACTIVE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B7C7C8"/>
                </a:solidFill>
                <a:latin typeface="Arial"/>
              </a:rPr>
              <a:t>A patient's current condition is too often interpreted without enough personalized context — and generic reference ranges can miss what is unusual for a specific individual.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" y="2263140"/>
            <a:ext cx="3401568" cy="1810512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3401568" cy="1810512"/>
          </a:xfrm>
          <a:prstGeom prst="rect">
            <a:avLst/>
          </a:prstGeom>
          <a:solidFill>
            <a:srgbClr val="0B171A"/>
          </a:solidFill>
          <a:ln w="3175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6888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E7FF"/>
                </a:solidFill>
                <a:latin typeface="Arial"/>
              </a:rPr>
              <a:t>PATIENT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71216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Heart rate. Oxygen. Temperature.
More numbers than anyone can interpret.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8529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0852" y="2263140"/>
            <a:ext cx="3401568" cy="1810512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212848"/>
            <a:ext cx="3401568" cy="1810512"/>
          </a:xfrm>
          <a:prstGeom prst="rect">
            <a:avLst/>
          </a:prstGeom>
          <a:solidFill>
            <a:srgbClr val="0B171A"/>
          </a:solidFill>
          <a:ln w="3175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46888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E7FF"/>
                </a:solidFill>
                <a:latin typeface="Arial"/>
              </a:rPr>
              <a:t>FRAGMENTED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71216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Each value read alone, against a
population average — not against the patient.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28529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4484" y="2263140"/>
            <a:ext cx="3401568" cy="1810512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2212848"/>
            <a:ext cx="3401568" cy="1810512"/>
          </a:xfrm>
          <a:prstGeom prst="rect">
            <a:avLst/>
          </a:prstGeom>
          <a:solidFill>
            <a:srgbClr val="0B171A"/>
          </a:solidFill>
          <a:ln w="3175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246888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C95D"/>
                </a:solidFill>
                <a:latin typeface="Arial"/>
              </a:rPr>
              <a:t>REACTIVE 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871216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Change is noticed only after it becomes
symptomatic, urgent, or alarming.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" y="4494276"/>
            <a:ext cx="11064240" cy="148132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443984"/>
            <a:ext cx="11064240" cy="1481328"/>
          </a:xfrm>
          <a:prstGeom prst="rect">
            <a:avLst/>
          </a:prstGeom>
          <a:solidFill>
            <a:srgbClr val="F4C95D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10515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080F12"/>
                </a:solidFill>
                <a:latin typeface="Arial"/>
              </a:rPr>
              <a:t>“What if healthcare could understand change relative to the patient's own baseline?”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583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80F12"/>
                </a:solidFill>
                <a:latin typeface="Arial"/>
              </a:rPr>
              <a:t>A heart rate of 88 bpm can be unremarkable for one person and a clear departure from their own pattern for another. Normal is personal — but almost nothing is measured against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02 ·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MEET VITALTWIN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" y="1495044"/>
            <a:ext cx="11064240" cy="8412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11064240" cy="841248"/>
          </a:xfrm>
          <a:prstGeom prst="rect">
            <a:avLst/>
          </a:prstGeom>
          <a:solidFill>
            <a:srgbClr val="0B171A"/>
          </a:solidFill>
          <a:ln w="3175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91056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F6F8"/>
                </a:solidFill>
                <a:latin typeface="Arial"/>
              </a:rPr>
              <a:t>“VitalTwin is a patient-focused Digital Twin prototype that creates a living, personalized representation of a patient's physiological state.”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" y="2592324"/>
            <a:ext cx="3593592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42032"/>
            <a:ext cx="3593592" cy="1700784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C95D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77977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7C7C8"/>
                </a:solidFill>
                <a:latin typeface="Arial"/>
              </a:rPr>
              <a:t>The user provides basic profile information — age, sex, body measures, activity level.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7116" y="2592324"/>
            <a:ext cx="3593592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2542032"/>
            <a:ext cx="3593592" cy="1700784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7432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C95D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77977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20040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7C7C8"/>
                </a:solidFill>
                <a:latin typeface="Arial"/>
              </a:rPr>
              <a:t>The system establishes a personal baseline: one normal value per signal, for this person.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012" y="2592324"/>
            <a:ext cx="3593592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542032"/>
            <a:ext cx="3593592" cy="1700784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7432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C95D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77977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20040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7C7C8"/>
                </a:solidFill>
                <a:latin typeface="Arial"/>
              </a:rPr>
              <a:t>Simulated physiological signals evolve over time, deterministically and repeatably.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" y="4512564"/>
            <a:ext cx="3593592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462272"/>
            <a:ext cx="3593592" cy="1700784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C95D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7000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DEVIATION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7C7C8"/>
                </a:solidFill>
                <a:latin typeface="Arial"/>
              </a:rPr>
              <a:t>The twin interprets movement away from that personal baseline — not a generic range.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7116" y="4512564"/>
            <a:ext cx="3593592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6824" y="4462272"/>
            <a:ext cx="3593592" cy="1700784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466344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C95D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47000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51206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7C7C8"/>
                </a:solidFill>
                <a:latin typeface="Arial"/>
              </a:rPr>
              <a:t>Meaningful, sustained change becomes a calm, timestamped intelligence event.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7012" y="4512564"/>
            <a:ext cx="3593592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462272"/>
            <a:ext cx="3593592" cy="1700784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466344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C95D"/>
                </a:solidFill>
                <a:latin typeface="Consola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7000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WHY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1206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7C7C8"/>
                </a:solidFill>
                <a:latin typeface="Arial"/>
              </a:rPr>
              <a:t>The patient can always see exactly why the twin changed state.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03 · THE PATIENT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ONE JOURNEY, START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C7C8"/>
                </a:solidFill>
                <a:latin typeface="Arial"/>
              </a:rPr>
              <a:t>Every step below is implemented in the current prototype — nothing here is conceptual.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" y="1933956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84048" cy="1280160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" y="1901952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6654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MEET VITALTWIN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95728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Boot splash and a time-aware greeting.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3" y="23408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7116" y="1933956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883664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883664"/>
            <a:ext cx="384048" cy="1280160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540" y="1901952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06654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ENTER BASIC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395728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Onboarding with validation, stored locally.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3408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7012" y="1933956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883664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883664"/>
            <a:ext cx="384048" cy="1280160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0436" y="1901952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06654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ESTABLISH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395728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Personal baseline derived from the profile.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9456" y="23408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" y="3360420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310128"/>
            <a:ext cx="384048" cy="1280160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" y="3328416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34930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GUIDED 7-STEP TOUR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3822191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A replayable walkthrough of the whole UI.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9663" y="376732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57116" y="3360420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3310128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06824" y="3310128"/>
            <a:ext cx="384048" cy="1280160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0540" y="3328416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5464" y="34930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START LIVE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5464" y="3822191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Signals begin evolving; the twin comes alive.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76732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7012" y="3360420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3310128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3310128"/>
            <a:ext cx="384048" cy="1280160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0436" y="3328416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930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OBSERVE TWIN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822191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STABLE · ATTENTION · RECOVERING, with hysteresis.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49456" y="376732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" y="4786883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4736592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736592"/>
            <a:ext cx="384048" cy="1280160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4" y="4754879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" y="4919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UNDERSTAND INTELLIGENCE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" y="5248656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Contextual events, each fully explainable.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9663" y="519379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57116" y="4786883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06824" y="4736592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06824" y="4736592"/>
            <a:ext cx="384048" cy="1280160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0540" y="4754879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5464" y="4919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EXPLORE HISTORY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5464" y="5248656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24H / 7D / 30D timeline plus live captures.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519379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4606B"/>
                </a:solidFill>
                <a:latin typeface="Arial"/>
              </a:rPr>
              <a:t>▶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97012" y="4786883"/>
            <a:ext cx="3593592" cy="128016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46720" y="4736592"/>
            <a:ext cx="3593592" cy="128016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6720" y="4736592"/>
            <a:ext cx="384048" cy="1280160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60436" y="4754879"/>
            <a:ext cx="36576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80F12"/>
                </a:solidFill>
                <a:latin typeface="Consolas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4919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9F6F8"/>
                </a:solidFill>
                <a:latin typeface="Arial"/>
              </a:rPr>
              <a:t>MANAGE PROFILE &amp; SETTINGS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5248656"/>
            <a:ext cx="2926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B7C7C8"/>
                </a:solidFill>
                <a:latin typeface="Arial"/>
              </a:rPr>
              <a:t>Edit profile, reduced motion, logout, clear data.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04 · THE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A TWIN THAT REACTS,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" y="1568195"/>
            <a:ext cx="5989320" cy="8412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5989320" cy="841248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91440" cy="841248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36776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LIVE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29384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A 1200 ms tick loop drives every signal on screen.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" y="2519172"/>
            <a:ext cx="5989320" cy="8412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68880"/>
            <a:ext cx="5989320" cy="841248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468880"/>
            <a:ext cx="91440" cy="841248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587752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SIGNAL CARDS ×6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8036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HR, SpO₂, temperature, respiratory rate, stress load, recovery — each vs. its baseline.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" y="3470148"/>
            <a:ext cx="5989320" cy="8412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19856"/>
            <a:ext cx="5989320" cy="841248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419856"/>
            <a:ext cx="91440" cy="841248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53872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HEALTH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31336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A transparent blend of alignment, recovery and stability — never clinical.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" y="4421124"/>
            <a:ext cx="5989320" cy="8412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370832"/>
            <a:ext cx="5989320" cy="841248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370832"/>
            <a:ext cx="91440" cy="841248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48970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TWIN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82312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The visualization reacts to STABLE · ATTENTION · RECOVERING.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" y="5372100"/>
            <a:ext cx="5989320" cy="8412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321808"/>
            <a:ext cx="5989320" cy="841248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321808"/>
            <a:ext cx="91440" cy="841248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440680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CONTEXTUAL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733288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Only meaningful transitions generate an event — never noise.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4012" y="1568195"/>
            <a:ext cx="4727448" cy="324612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03720" y="1517904"/>
            <a:ext cx="4727448" cy="3246120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58684" y="1293876"/>
            <a:ext cx="3008376" cy="3008376"/>
          </a:xfrm>
          <a:prstGeom prst="ellipse">
            <a:avLst/>
          </a:prstGeom>
          <a:noFill/>
          <a:ln w="2032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66963" y="1702155"/>
            <a:ext cx="2191816" cy="2191816"/>
          </a:xfrm>
          <a:prstGeom prst="ellipse">
            <a:avLst/>
          </a:prstGeom>
          <a:noFill/>
          <a:ln w="3302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18220" y="2153412"/>
            <a:ext cx="1289304" cy="1289304"/>
          </a:xfrm>
          <a:prstGeom prst="ellipse">
            <a:avLst/>
          </a:prstGeom>
          <a:solidFill>
            <a:srgbClr val="0B171A"/>
          </a:solidFill>
          <a:ln w="2794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930591" y="2575959"/>
            <a:ext cx="2664561" cy="444207"/>
          </a:xfrm>
          <a:custGeom>
            <a:avLst/>
            <a:gdLst/>
            <a:ahLst/>
            <a:cxnLst/>
            <a:rect l="l" t="t" r="r" b="b"/>
            <a:pathLst>
              <a:path w="2664561" h="444207">
                <a:moveTo>
                  <a:pt x="0" y="222104"/>
                </a:moveTo>
                <a:lnTo>
                  <a:pt x="266456" y="222104"/>
                </a:lnTo>
                <a:lnTo>
                  <a:pt x="346392" y="128586"/>
                </a:lnTo>
                <a:lnTo>
                  <a:pt x="426329" y="303931"/>
                </a:lnTo>
                <a:lnTo>
                  <a:pt x="506266" y="222104"/>
                </a:lnTo>
                <a:lnTo>
                  <a:pt x="746077" y="222104"/>
                </a:lnTo>
                <a:lnTo>
                  <a:pt x="826013" y="198724"/>
                </a:lnTo>
                <a:lnTo>
                  <a:pt x="905950" y="245483"/>
                </a:lnTo>
                <a:lnTo>
                  <a:pt x="985887" y="222104"/>
                </a:lnTo>
                <a:lnTo>
                  <a:pt x="1252343" y="222104"/>
                </a:lnTo>
                <a:lnTo>
                  <a:pt x="1332280" y="0"/>
                </a:lnTo>
                <a:lnTo>
                  <a:pt x="1412217" y="444207"/>
                </a:lnTo>
                <a:lnTo>
                  <a:pt x="1492154" y="222104"/>
                </a:lnTo>
                <a:lnTo>
                  <a:pt x="1758610" y="222104"/>
                </a:lnTo>
                <a:lnTo>
                  <a:pt x="1838547" y="175345"/>
                </a:lnTo>
                <a:lnTo>
                  <a:pt x="1918483" y="268862"/>
                </a:lnTo>
                <a:lnTo>
                  <a:pt x="1998420" y="222104"/>
                </a:lnTo>
                <a:lnTo>
                  <a:pt x="2291522" y="222104"/>
                </a:lnTo>
                <a:lnTo>
                  <a:pt x="2371459" y="105207"/>
                </a:lnTo>
                <a:lnTo>
                  <a:pt x="2451396" y="339000"/>
                </a:lnTo>
                <a:lnTo>
                  <a:pt x="2531332" y="222104"/>
                </a:lnTo>
                <a:lnTo>
                  <a:pt x="2664561" y="222104"/>
                </a:lnTo>
              </a:path>
            </a:pathLst>
          </a:custGeom>
          <a:noFill/>
          <a:ln w="3048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01061" y="2266333"/>
            <a:ext cx="137160" cy="137160"/>
          </a:xfrm>
          <a:prstGeom prst="ellipse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19469" y="1699666"/>
            <a:ext cx="137160" cy="137160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42246" y="1780399"/>
            <a:ext cx="137160" cy="137160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2858" y="2445842"/>
            <a:ext cx="137160" cy="137160"/>
          </a:xfrm>
          <a:prstGeom prst="ellipse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43376" y="3277438"/>
            <a:ext cx="137160" cy="137160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01061" y="3192634"/>
            <a:ext cx="137160" cy="137160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42245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4C95D"/>
                </a:solidFill>
                <a:latin typeface="Consolas"/>
              </a:rPr>
              <a:t>STATE:  STABLE  ·  ATTENTION  ·  RECOVERING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54012" y="5006340"/>
            <a:ext cx="4727448" cy="1170432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03720" y="4956048"/>
            <a:ext cx="4727448" cy="1170432"/>
          </a:xfrm>
          <a:prstGeom prst="rect">
            <a:avLst/>
          </a:prstGeom>
          <a:solidFill>
            <a:srgbClr val="F4C95D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5120640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80F12"/>
                </a:solidFill>
                <a:latin typeface="Arial"/>
              </a:rPr>
              <a:t>SYNTHETIC / SIMULATED PROTOTYPE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413248"/>
            <a:ext cx="4206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0F12"/>
                </a:solidFill>
                <a:latin typeface="Arial"/>
              </a:rPr>
              <a:t>No medical measurement is taken. The visualization is an abstract, state-reactive representation of simulated signals.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05 ·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YOUR NORMAL IS PERSONAL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" y="1531620"/>
            <a:ext cx="5394960" cy="12984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394960" cy="1298448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F9698"/>
                </a:solidFill>
                <a:latin typeface="Arial"/>
              </a:rPr>
              <a:t>GENERIC THRESHOLDS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20240"/>
            <a:ext cx="48463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7C7C8"/>
                </a:solidFill>
                <a:latin typeface="Arial"/>
              </a:rPr>
              <a:t>“Is this value normal?”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" y="3012948"/>
            <a:ext cx="5394960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962656"/>
            <a:ext cx="5394960" cy="1700784"/>
          </a:xfrm>
          <a:prstGeom prst="rect">
            <a:avLst/>
          </a:prstGeom>
          <a:solidFill>
            <a:srgbClr val="172F35"/>
          </a:solidFill>
          <a:ln w="3175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14553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E7FF"/>
                </a:solidFill>
                <a:latin typeface="Arial"/>
              </a:rPr>
              <a:t>VITALTWIN 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56432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E9F6F8"/>
                </a:solidFill>
                <a:latin typeface="Arial"/>
              </a:rPr>
              <a:t>“Is this meaningfully different from THIS patient's baseline?”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82896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Baselines are derived per signal from age, sex, body measures (BMI) and activity level — then every reading is judged against that person's own pattern. This enables patient-specific interpretation instead of one universal cut-off.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6812" y="1531620"/>
            <a:ext cx="5184648" cy="7863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481328"/>
            <a:ext cx="5184648" cy="786384"/>
          </a:xfrm>
          <a:prstGeom prst="rect">
            <a:avLst/>
          </a:prstGeom>
          <a:solidFill>
            <a:srgbClr val="0B171A"/>
          </a:solidFill>
          <a:ln w="2794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6002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PERSONAL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9019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derived at onboarding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26771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6812" y="2537460"/>
            <a:ext cx="5184648" cy="7863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487168"/>
            <a:ext cx="5184648" cy="78638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060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F6F8"/>
                </a:solidFill>
                <a:latin typeface="Arial"/>
              </a:rPr>
              <a:t>CURRENT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90779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simulated reading this tick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7355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6812" y="3543300"/>
            <a:ext cx="5184648" cy="7863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493008"/>
            <a:ext cx="5184648" cy="78638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6118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F6F8"/>
                </a:solidFill>
                <a:latin typeface="Arial"/>
              </a:rPr>
              <a:t>DEVIATION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136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% and direction vs.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27939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6812" y="4549140"/>
            <a:ext cx="5184648" cy="7863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4498848"/>
            <a:ext cx="5184648" cy="78638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6177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F6F8"/>
                </a:solidFill>
                <a:latin typeface="Arial"/>
              </a:rPr>
              <a:t>SUSTAINED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9194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held across consecutive ticks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28523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E7FF"/>
                </a:solidFill>
                <a:latin typeface="Arial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6812" y="5554979"/>
            <a:ext cx="5184648" cy="7863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5504688"/>
            <a:ext cx="5184648" cy="786384"/>
          </a:xfrm>
          <a:prstGeom prst="rect">
            <a:avLst/>
          </a:prstGeom>
          <a:solidFill>
            <a:srgbClr val="0B171A"/>
          </a:solidFill>
          <a:ln w="2794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623559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TWIN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92531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STABLE · ATTENTION · RECOVERING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06 · 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SIGNALS TO INTELLIGENCE, EVERY 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463040" cy="106070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36192"/>
            <a:ext cx="1353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E9F6F8"/>
                </a:solidFill>
                <a:latin typeface="Arial"/>
              </a:rPr>
              <a:t>SIMULATED
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1773936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463040"/>
            <a:ext cx="1463040" cy="106070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1536192"/>
            <a:ext cx="1353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E9F6F8"/>
                </a:solidFill>
                <a:latin typeface="Arial"/>
              </a:rPr>
              <a:t>SIGNAL
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73936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22191" y="1463040"/>
            <a:ext cx="1463040" cy="106070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5" y="1536192"/>
            <a:ext cx="1353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E9F6F8"/>
                </a:solidFill>
                <a:latin typeface="Arial"/>
              </a:rPr>
              <a:t>TOLERANCE /
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1" y="1773936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9824" y="1463040"/>
            <a:ext cx="1463040" cy="1060704"/>
          </a:xfrm>
          <a:prstGeom prst="rect">
            <a:avLst/>
          </a:prstGeom>
          <a:solidFill>
            <a:srgbClr val="0B171A"/>
          </a:solidFill>
          <a:ln w="2794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1536192"/>
            <a:ext cx="1353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E9F6F8"/>
                </a:solidFill>
                <a:latin typeface="Arial"/>
              </a:rPr>
              <a:t>SUSTAINED
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773936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77456" y="1463040"/>
            <a:ext cx="1463040" cy="1060704"/>
          </a:xfrm>
          <a:prstGeom prst="rect">
            <a:avLst/>
          </a:prstGeom>
          <a:solidFill>
            <a:srgbClr val="0B171A"/>
          </a:solidFill>
          <a:ln w="2794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536192"/>
            <a:ext cx="1353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E9F6F8"/>
                </a:solidFill>
                <a:latin typeface="Arial"/>
              </a:rPr>
              <a:t>STATE
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1773936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05088" y="1463040"/>
            <a:ext cx="1463040" cy="106070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1536192"/>
            <a:ext cx="1353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E9F6F8"/>
                </a:solidFill>
                <a:latin typeface="Arial"/>
              </a:rPr>
              <a:t>HEALTH
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8128" y="1773936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9" y="1463040"/>
            <a:ext cx="1463040" cy="1060704"/>
          </a:xfrm>
          <a:prstGeom prst="rect">
            <a:avLst/>
          </a:prstGeom>
          <a:solidFill>
            <a:srgbClr val="0B171A"/>
          </a:solidFill>
          <a:ln w="2794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87584" y="1536192"/>
            <a:ext cx="1353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E9F6F8"/>
                </a:solidFill>
                <a:latin typeface="Arial"/>
              </a:rPr>
              <a:t>INTELLIGENCE
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74320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THE ONLY THREE TWIN STATES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" y="3104388"/>
            <a:ext cx="3593592" cy="109728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054096"/>
            <a:ext cx="3593592" cy="1097280"/>
          </a:xfrm>
          <a:prstGeom prst="rect">
            <a:avLst/>
          </a:prstGeom>
          <a:solidFill>
            <a:srgbClr val="172F35"/>
          </a:solidFill>
          <a:ln w="3175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2004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D6C1"/>
                </a:solidFill>
                <a:latin typeface="Arial"/>
              </a:rPr>
              <a:t>STABLE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547872"/>
            <a:ext cx="3154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No sustained deviation beyond personal tolerance.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7116" y="3104388"/>
            <a:ext cx="3593592" cy="109728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3054096"/>
            <a:ext cx="3593592" cy="1097280"/>
          </a:xfrm>
          <a:prstGeom prst="rect">
            <a:avLst/>
          </a:prstGeom>
          <a:solidFill>
            <a:srgbClr val="172F35"/>
          </a:solidFill>
          <a:ln w="3175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2004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C95D"/>
                </a:solidFill>
                <a:latin typeface="Arial"/>
              </a:rPr>
              <a:t>ATTENTION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3547872"/>
            <a:ext cx="3154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≥1 major, or ≥3 sustained off-baseline signals.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7012" y="3104388"/>
            <a:ext cx="3593592" cy="109728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054096"/>
            <a:ext cx="3593592" cy="1097280"/>
          </a:xfrm>
          <a:prstGeom prst="rect">
            <a:avLst/>
          </a:prstGeom>
          <a:solidFill>
            <a:srgbClr val="172F35"/>
          </a:solidFill>
          <a:ln w="3175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4" y="32004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E7FF"/>
                </a:solidFill>
                <a:latin typeface="Arial"/>
              </a:rPr>
              <a:t>RECOVERING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3547872"/>
            <a:ext cx="3154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Deviations shrinking; settles back toward STABLE.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" y="4402836"/>
            <a:ext cx="6949440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352544"/>
            <a:ext cx="6949440" cy="969264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480560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4C95D"/>
                </a:solidFill>
                <a:latin typeface="Arial"/>
              </a:rPr>
              <a:t>DEMO SCENARIOS — INPUTS, NOT STATES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75488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7C7C8"/>
                </a:solidFill>
                <a:latin typeface="Arial"/>
              </a:rPr>
              <a:t>STABLE DAY · ELEVATED SIGNALS · RECOVERY steer the simulation from the outside. The patient-facing state is always STABLE, ATTENTION or RECOVERING.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6971" y="4402836"/>
            <a:ext cx="3904487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26679" y="4352544"/>
            <a:ext cx="3904487" cy="969264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480560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9D6C1"/>
                </a:solidFill>
                <a:latin typeface="Arial"/>
              </a:rPr>
              <a:t>REPRODUCIBLE BY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47548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7C7C8"/>
                </a:solidFill>
                <a:latin typeface="Consolas"/>
              </a:rPr>
              <a:t>ACTIVATION_TICKS = 5 · tick = 1200 ms · score weights 0.42 / 0.33 / 0.25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" y="5554979"/>
            <a:ext cx="11064240" cy="60350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504688"/>
            <a:ext cx="11064240" cy="603504"/>
          </a:xfrm>
          <a:prstGeom prst="rect">
            <a:avLst/>
          </a:prstGeom>
          <a:solidFill>
            <a:srgbClr val="F4C95D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614416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80F12"/>
                </a:solidFill>
                <a:latin typeface="Arial"/>
              </a:rPr>
              <a:t>Current prototype uses a deterministic rule / state engine — not a trained ML model. No training data, no inference runtime, no Math.random.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07 ·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EVERY ALERT EXPLAINS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C7C8"/>
                </a:solidFill>
                <a:latin typeface="Arial"/>
              </a:rPr>
              <a:t>Every intelligence event opens into the same six-step causal chain — in plain, patient-friendly language.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" y="1933956"/>
            <a:ext cx="5394960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5394960" cy="96926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299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1.  WHAT THE TWIN SAW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91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7C7C8"/>
                </a:solidFill>
                <a:latin typeface="Arial"/>
              </a:rPr>
              <a:t>the observed simulated reading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194560"/>
            <a:ext cx="237744" cy="237744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" y="3067812"/>
            <a:ext cx="5394960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5394960" cy="96926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638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2.  YOUR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49300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7C7C8"/>
                </a:solidFill>
                <a:latin typeface="Arial"/>
              </a:rPr>
              <a:t>the personal value it was compared against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328415"/>
            <a:ext cx="237744" cy="237744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" y="4201668"/>
            <a:ext cx="5394960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151376"/>
            <a:ext cx="5394960" cy="96926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297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3.  CHANGE 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6268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7C7C8"/>
                </a:solidFill>
                <a:latin typeface="Arial"/>
              </a:rPr>
              <a:t>size and direction of the deviation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4462272"/>
            <a:ext cx="237744" cy="237744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1933956"/>
            <a:ext cx="5394960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883664"/>
            <a:ext cx="5394960" cy="96926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20299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4.  SIGNALS INVOLVED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23591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7C7C8"/>
                </a:solidFill>
                <a:latin typeface="Arial"/>
              </a:rPr>
              <a:t>which signals moved together</a:t>
            </a:r>
          </a:p>
        </p:txBody>
      </p:sp>
      <p:sp>
        <p:nvSpPr>
          <p:cNvPr id="26" name="Oval 25"/>
          <p:cNvSpPr/>
          <p:nvPr/>
        </p:nvSpPr>
        <p:spPr>
          <a:xfrm>
            <a:off x="6382512" y="2194560"/>
            <a:ext cx="237744" cy="237744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6500" y="3067812"/>
            <a:ext cx="5394960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017520"/>
            <a:ext cx="5394960" cy="969264"/>
          </a:xfrm>
          <a:prstGeom prst="rect">
            <a:avLst/>
          </a:prstGeom>
          <a:solidFill>
            <a:srgbClr val="0B171A"/>
          </a:solidFill>
          <a:ln w="2794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9128" y="31638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E7FF"/>
                </a:solidFill>
                <a:latin typeface="Arial"/>
              </a:rPr>
              <a:t>5.  WHY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349300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7C7C8"/>
                </a:solidFill>
                <a:latin typeface="Arial"/>
              </a:rPr>
              <a:t>context in careful, non-diagnostic language</a:t>
            </a:r>
          </a:p>
        </p:txBody>
      </p:sp>
      <p:sp>
        <p:nvSpPr>
          <p:cNvPr id="31" name="Oval 30"/>
          <p:cNvSpPr/>
          <p:nvPr/>
        </p:nvSpPr>
        <p:spPr>
          <a:xfrm>
            <a:off x="6382512" y="3328415"/>
            <a:ext cx="237744" cy="237744"/>
          </a:xfrm>
          <a:prstGeom prst="ellipse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6500" y="4201668"/>
            <a:ext cx="5394960" cy="96926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4151376"/>
            <a:ext cx="5394960" cy="969264"/>
          </a:xfrm>
          <a:prstGeom prst="rect">
            <a:avLst/>
          </a:prstGeom>
          <a:solidFill>
            <a:srgbClr val="0B171A"/>
          </a:solidFill>
          <a:ln w="2794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4297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4C95D"/>
                </a:solidFill>
                <a:latin typeface="Arial"/>
              </a:rPr>
              <a:t>6.  WHAT YOU CAN 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46268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7C7C8"/>
                </a:solidFill>
                <a:latin typeface="Arial"/>
              </a:rPr>
              <a:t>safe, general next-step considerations</a:t>
            </a:r>
          </a:p>
        </p:txBody>
      </p:sp>
      <p:sp>
        <p:nvSpPr>
          <p:cNvPr id="36" name="Oval 35"/>
          <p:cNvSpPr/>
          <p:nvPr/>
        </p:nvSpPr>
        <p:spPr>
          <a:xfrm>
            <a:off x="6382512" y="4462272"/>
            <a:ext cx="237744" cy="237744"/>
          </a:xfrm>
          <a:prstGeom prst="ellipse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" y="5518404"/>
            <a:ext cx="11064240" cy="65836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468112"/>
            <a:ext cx="11064240" cy="658368"/>
          </a:xfrm>
          <a:prstGeom prst="rect">
            <a:avLst/>
          </a:prstGeom>
          <a:solidFill>
            <a:srgbClr val="172F35"/>
          </a:solidFill>
          <a:ln w="3175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577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9F6F8"/>
                </a:solidFill>
                <a:latin typeface="Arial"/>
              </a:rPr>
              <a:t>“Explainability is part of the experience, not an afterthought.”   No opaque alerts, no black-box scores — and never a diagnosis.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08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BUILT CLIENT-SIDE,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ONBOARDING /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1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PERSONAL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SIMULATED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4416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136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VITAL TWIN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76288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7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STATE + HEALTH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9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INTELLIGENCE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5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0031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1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EXPLAINABILITY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3887" y="1737360"/>
            <a:ext cx="128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E7FF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1903" y="1481328"/>
            <a:ext cx="1133856" cy="914400"/>
          </a:xfrm>
          <a:prstGeom prst="rect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07623" y="1536192"/>
            <a:ext cx="104241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E9F6F8"/>
                </a:solidFill>
                <a:latin typeface="Arial"/>
              </a:rPr>
              <a:t>DASHBOARD 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" y="2720340"/>
            <a:ext cx="7223760" cy="74980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670048"/>
            <a:ext cx="7223760" cy="749808"/>
          </a:xfrm>
          <a:prstGeom prst="rect">
            <a:avLst/>
          </a:prstGeom>
          <a:solidFill>
            <a:srgbClr val="172F35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2670048"/>
            <a:ext cx="91440" cy="749808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2770632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E7FF"/>
                </a:solidFill>
                <a:latin typeface="Arial"/>
              </a:rPr>
              <a:t>NEXT.JS 16 · REACT 19 · TYPESCRIPT 5.7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035808"/>
            <a:ext cx="6812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B7C7C8"/>
                </a:solidFill>
                <a:latin typeface="Arial"/>
              </a:rPr>
              <a:t>app/page.tsx composition root · app/layout.tsx · Tailwind CSS 4 neo-brutalist design system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" y="3579876"/>
            <a:ext cx="7223760" cy="74980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3529584"/>
            <a:ext cx="7223760" cy="749808"/>
          </a:xfrm>
          <a:prstGeom prst="rect">
            <a:avLst/>
          </a:prstGeom>
          <a:solidFill>
            <a:srgbClr val="172F35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3529584"/>
            <a:ext cx="91440" cy="749808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630168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9D6C1"/>
                </a:solidFill>
                <a:latin typeface="Arial"/>
              </a:rPr>
              <a:t>CORE LOGIC — NO REACT, NO DOM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3895344"/>
            <a:ext cx="6812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B7C7C8"/>
                </a:solidFill>
                <a:latin typeface="Arial"/>
              </a:rPr>
              <a:t>lib/engine.ts — pure deterministic simulation, baselines, state machine, scoring, events, history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" y="4439412"/>
            <a:ext cx="7223760" cy="74980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4389120"/>
            <a:ext cx="7223760" cy="749808"/>
          </a:xfrm>
          <a:prstGeom prst="rect">
            <a:avLst/>
          </a:prstGeom>
          <a:solidFill>
            <a:srgbClr val="172F35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91440" cy="749808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489704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9D6C1"/>
                </a:solidFill>
                <a:latin typeface="Arial"/>
              </a:rPr>
              <a:t>REACT BINDING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754880"/>
            <a:ext cx="6812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B7C7C8"/>
                </a:solidFill>
                <a:latin typeface="Arial"/>
              </a:rPr>
              <a:t>lib/use-vital-twin.ts — tick loop with cleanup, scenario controls, overlays, keyboard a11y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" y="5298948"/>
            <a:ext cx="7223760" cy="74980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248656"/>
            <a:ext cx="7223760" cy="749808"/>
          </a:xfrm>
          <a:prstGeom prst="rect">
            <a:avLst/>
          </a:prstGeom>
          <a:solidFill>
            <a:srgbClr val="172F35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248656"/>
            <a:ext cx="91440" cy="749808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3492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E7FF"/>
                </a:solidFill>
                <a:latin typeface="Arial"/>
              </a:rPr>
              <a:t>12 REACT COMPONENTS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614416"/>
            <a:ext cx="6812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B7C7C8"/>
                </a:solidFill>
                <a:latin typeface="Arial"/>
              </a:rPr>
              <a:t>Onboarding · DigitalTwin + EcgStrip · MonitoringStrip · SignalCard ×6 · HealthScore · TwinSees · IntelligenceFeed · ExplainabilityDrawer · HistoryDrawer · AccountDrawers · TourOverlay · DemoControls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51292" y="2720340"/>
            <a:ext cx="3630168" cy="17007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01000" y="2670048"/>
            <a:ext cx="3630168" cy="1700784"/>
          </a:xfrm>
          <a:prstGeom prst="rect">
            <a:avLst/>
          </a:prstGeom>
          <a:solidFill>
            <a:srgbClr val="0B171A"/>
          </a:solidFill>
          <a:ln w="3175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7888" y="2816352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9D6C1"/>
                </a:solidFill>
                <a:latin typeface="Arial"/>
              </a:rPr>
              <a:t>PERSISTENCE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31089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7C7C8"/>
                </a:solidFill>
                <a:latin typeface="Consolas"/>
              </a:rPr>
              <a:t>Single-browser prototype storage:
localStorage · vital-twin-profile
localStorage · vital-twin-reduced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40416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F9698"/>
                </a:solidFill>
                <a:latin typeface="Arial"/>
              </a:rPr>
              <a:t>Sanitized on read. Nothing leaves the device.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51292" y="4567428"/>
            <a:ext cx="3630168" cy="157276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4517136"/>
            <a:ext cx="3630168" cy="1572768"/>
          </a:xfrm>
          <a:prstGeom prst="rect">
            <a:avLst/>
          </a:prstGeom>
          <a:solidFill>
            <a:srgbClr val="F4C95D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47888" y="466344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80F12"/>
                </a:solidFill>
                <a:latin typeface="Arial"/>
              </a:rPr>
              <a:t>PROTOTYPE BOUNDARY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7888" y="4956048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080F12"/>
                </a:solidFill>
                <a:latin typeface="Arial"/>
              </a:rPr>
              <a:t>No backend · no cloud patient record · no wearable feed · no EHR · no ABHA · no real-time clinical data.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09 ·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7C7C8"/>
                </a:solidFill>
                <a:latin typeface="Arial"/>
              </a:rPr>
              <a:t>A complete, repeatable walkthrough — every state can be reached, explained, and exited. No dead ends.</a:t>
            </a:r>
          </a:p>
        </p:txBody>
      </p:sp>
      <p:sp>
        <p:nvSpPr>
          <p:cNvPr id="7" name="Chevron 6"/>
          <p:cNvSpPr/>
          <p:nvPr/>
        </p:nvSpPr>
        <p:spPr>
          <a:xfrm>
            <a:off x="566928" y="1901952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20240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BOOT</a:t>
            </a:r>
          </a:p>
        </p:txBody>
      </p:sp>
      <p:sp>
        <p:nvSpPr>
          <p:cNvPr id="9" name="Chevron 8"/>
          <p:cNvSpPr/>
          <p:nvPr/>
        </p:nvSpPr>
        <p:spPr>
          <a:xfrm>
            <a:off x="2779776" y="1901952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20240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ONBOARD</a:t>
            </a:r>
          </a:p>
        </p:txBody>
      </p:sp>
      <p:sp>
        <p:nvSpPr>
          <p:cNvPr id="11" name="Chevron 10"/>
          <p:cNvSpPr/>
          <p:nvPr/>
        </p:nvSpPr>
        <p:spPr>
          <a:xfrm>
            <a:off x="4992624" y="1901952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920240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CREATE TWIN</a:t>
            </a:r>
          </a:p>
        </p:txBody>
      </p:sp>
      <p:sp>
        <p:nvSpPr>
          <p:cNvPr id="13" name="Chevron 12"/>
          <p:cNvSpPr/>
          <p:nvPr/>
        </p:nvSpPr>
        <p:spPr>
          <a:xfrm>
            <a:off x="7205472" y="1901952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920240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TOUR</a:t>
            </a:r>
          </a:p>
        </p:txBody>
      </p:sp>
      <p:sp>
        <p:nvSpPr>
          <p:cNvPr id="15" name="Chevron 14"/>
          <p:cNvSpPr/>
          <p:nvPr/>
        </p:nvSpPr>
        <p:spPr>
          <a:xfrm>
            <a:off x="9418320" y="1901952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1920240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LIVE MONITORING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566928" y="2688336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706624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ELEVATED</a:t>
            </a:r>
          </a:p>
        </p:txBody>
      </p:sp>
      <p:sp>
        <p:nvSpPr>
          <p:cNvPr id="19" name="Chevron 18"/>
          <p:cNvSpPr/>
          <p:nvPr/>
        </p:nvSpPr>
        <p:spPr>
          <a:xfrm>
            <a:off x="2779776" y="2688336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9504" y="2706624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ATTENTION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4992624" y="2688336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2706624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EXPLAIN</a:t>
            </a:r>
          </a:p>
        </p:txBody>
      </p:sp>
      <p:sp>
        <p:nvSpPr>
          <p:cNvPr id="23" name="Chevron 22"/>
          <p:cNvSpPr/>
          <p:nvPr/>
        </p:nvSpPr>
        <p:spPr>
          <a:xfrm>
            <a:off x="7205472" y="2688336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706624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RECOVERY</a:t>
            </a:r>
          </a:p>
        </p:txBody>
      </p:sp>
      <p:sp>
        <p:nvSpPr>
          <p:cNvPr id="25" name="Chevron 24"/>
          <p:cNvSpPr/>
          <p:nvPr/>
        </p:nvSpPr>
        <p:spPr>
          <a:xfrm>
            <a:off x="9418320" y="2688336"/>
            <a:ext cx="2139696" cy="658368"/>
          </a:xfrm>
          <a:prstGeom prst="chevron">
            <a:avLst/>
          </a:prstGeom>
          <a:solidFill>
            <a:srgbClr val="0B171A"/>
          </a:solidFill>
          <a:ln w="25400">
            <a:solidFill>
              <a:srgbClr val="24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2706624"/>
            <a:ext cx="182879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9F6F8"/>
                </a:solidFill>
                <a:latin typeface="Arial"/>
              </a:rPr>
              <a:t>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" y="3799331"/>
            <a:ext cx="5532120" cy="22128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749039"/>
            <a:ext cx="5532120" cy="2212848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91363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E7FF"/>
                </a:solidFill>
                <a:latin typeface="Arial"/>
              </a:rPr>
              <a:t>DEMO CONTROLS — BUILT 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4261104"/>
            <a:ext cx="1417320" cy="347472"/>
          </a:xfrm>
          <a:prstGeom prst="rect">
            <a:avLst/>
          </a:prstGeom>
          <a:solidFill>
            <a:srgbClr val="0B171A"/>
          </a:solidFill>
          <a:ln w="2286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274820"/>
            <a:ext cx="1417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4C95D"/>
                </a:solidFill>
                <a:latin typeface="Consolas"/>
              </a:rPr>
              <a:t>+1 HOUR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431596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fast-forward one simulated hour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4681728"/>
            <a:ext cx="1417320" cy="347472"/>
          </a:xfrm>
          <a:prstGeom prst="rect">
            <a:avLst/>
          </a:prstGeom>
          <a:solidFill>
            <a:srgbClr val="0B171A"/>
          </a:solidFill>
          <a:ln w="2286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695444"/>
            <a:ext cx="1417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4C95D"/>
                </a:solidFill>
                <a:latin typeface="Consolas"/>
              </a:rPr>
              <a:t>+6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473659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fast-forward a full evening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" y="5102352"/>
            <a:ext cx="1417320" cy="347472"/>
          </a:xfrm>
          <a:prstGeom prst="rect">
            <a:avLst/>
          </a:prstGeom>
          <a:solidFill>
            <a:srgbClr val="0B171A"/>
          </a:solidFill>
          <a:ln w="2286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116068"/>
            <a:ext cx="1417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4C95D"/>
                </a:solidFill>
                <a:latin typeface="Consolas"/>
              </a:rPr>
              <a:t>PAUSE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51572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freeze the simulation mid-flight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5522976"/>
            <a:ext cx="1417320" cy="347472"/>
          </a:xfrm>
          <a:prstGeom prst="rect">
            <a:avLst/>
          </a:prstGeom>
          <a:solidFill>
            <a:srgbClr val="0B171A"/>
          </a:solidFill>
          <a:ln w="22860">
            <a:solidFill>
              <a:srgbClr val="F4C9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536692"/>
            <a:ext cx="1417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4C95D"/>
                </a:solidFill>
                <a:latin typeface="Consolas"/>
              </a:rPr>
              <a:t>RESET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55778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B7C7C8"/>
                </a:solidFill>
                <a:latin typeface="Arial"/>
              </a:rPr>
              <a:t>return to the personal baseline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5372" y="3799331"/>
            <a:ext cx="5276088" cy="2212848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749039"/>
            <a:ext cx="5276088" cy="2212848"/>
          </a:xfrm>
          <a:prstGeom prst="rect">
            <a:avLst/>
          </a:prstGeom>
          <a:solidFill>
            <a:srgbClr val="172F35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91363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9D6C1"/>
                </a:solidFill>
                <a:latin typeface="Arial"/>
              </a:rPr>
              <a:t>SCENARIO SWITCHES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4261104"/>
            <a:ext cx="1033272" cy="274320"/>
          </a:xfrm>
          <a:prstGeom prst="rect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274820"/>
            <a:ext cx="103327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0F12"/>
                </a:solidFill>
                <a:latin typeface="Arial"/>
              </a:rPr>
              <a:t>STABLE 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90688" y="4261104"/>
            <a:ext cx="1488643" cy="274320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90688" y="4274820"/>
            <a:ext cx="1488643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0F12"/>
                </a:solidFill>
                <a:latin typeface="Arial"/>
              </a:rPr>
              <a:t>ELEVATED SIGNALS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07347" y="4261104"/>
            <a:ext cx="881481" cy="274320"/>
          </a:xfrm>
          <a:prstGeom prst="rect">
            <a:avLst/>
          </a:prstGeom>
          <a:solidFill>
            <a:srgbClr val="6B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07347" y="4274820"/>
            <a:ext cx="881481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0F12"/>
                </a:solidFill>
                <a:latin typeface="Arial"/>
              </a:rPr>
              <a:t>RECOVERY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718304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B7C7C8"/>
                </a:solidFill>
                <a:latin typeface="Arial"/>
              </a:rPr>
              <a:t>Watch a single change propagate through the entire product: scenario → signals → deviation from the personal baseline → twin state → intelligence event → explainability → recovery → history.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E7FF"/>
                </a:solidFill>
                <a:latin typeface="Arial"/>
              </a:rPr>
              <a:t>10 · SAFETY, PRIVACY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E9F6F8"/>
                </a:solidFill>
                <a:latin typeface="Arial"/>
              </a:rPr>
              <a:t>RADICALLY HONEST ABOUT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1064240" cy="41148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" y="1531620"/>
            <a:ext cx="5532120" cy="334670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532120" cy="3346704"/>
          </a:xfrm>
          <a:prstGeom prst="rect">
            <a:avLst/>
          </a:prstGeom>
          <a:solidFill>
            <a:srgbClr val="172F35"/>
          </a:solidFill>
          <a:ln w="3175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D6C1"/>
                </a:solidFill>
                <a:latin typeface="Arial"/>
              </a:rPr>
              <a:t>WHAT THIS PROTOTYPE IS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35124"/>
            <a:ext cx="155448" cy="155448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084831"/>
            <a:ext cx="4663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Synthetic / simulated physiological signals, generated on-device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793492"/>
            <a:ext cx="155448" cy="155448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4663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Browser-local profile persistence (localStorage), sanitized on read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451860"/>
            <a:ext cx="155448" cy="155448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01568"/>
            <a:ext cx="4663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Non-diagnostic language throughout — signals, patterns, baselines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110227"/>
            <a:ext cx="155448" cy="155448"/>
          </a:xfrm>
          <a:prstGeom prst="ellipse">
            <a:avLst/>
          </a:prstGeom>
          <a:solidFill>
            <a:srgbClr val="39D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59935"/>
            <a:ext cx="4663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A research / competition proof-of-concept, MIT licensed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5372" y="1531620"/>
            <a:ext cx="5276088" cy="334670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481328"/>
            <a:ext cx="5276088" cy="3346704"/>
          </a:xfrm>
          <a:prstGeom prst="rect">
            <a:avLst/>
          </a:prstGeom>
          <a:solidFill>
            <a:srgbClr val="172F35"/>
          </a:solidFill>
          <a:ln w="31750">
            <a:solidFill>
              <a:srgbClr val="FF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6642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F6B"/>
                </a:solidFill>
                <a:latin typeface="Arial"/>
              </a:rPr>
              <a:t>WHAT THIS PROTOTYPE IS NOT</a:t>
            </a:r>
          </a:p>
        </p:txBody>
      </p:sp>
      <p:sp>
        <p:nvSpPr>
          <p:cNvPr id="20" name="Oval 19"/>
          <p:cNvSpPr/>
          <p:nvPr/>
        </p:nvSpPr>
        <p:spPr>
          <a:xfrm>
            <a:off x="6656832" y="2135124"/>
            <a:ext cx="155448" cy="155448"/>
          </a:xfrm>
          <a:prstGeom prst="ellipse">
            <a:avLst/>
          </a:prstGeom>
          <a:solidFill>
            <a:srgbClr val="F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084831"/>
            <a:ext cx="4434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No real patient records — no real patient data is used or required</a:t>
            </a:r>
          </a:p>
        </p:txBody>
      </p:sp>
      <p:sp>
        <p:nvSpPr>
          <p:cNvPr id="22" name="Oval 21"/>
          <p:cNvSpPr/>
          <p:nvPr/>
        </p:nvSpPr>
        <p:spPr>
          <a:xfrm>
            <a:off x="6656832" y="2793492"/>
            <a:ext cx="155448" cy="155448"/>
          </a:xfrm>
          <a:prstGeom prst="ellipse">
            <a:avLst/>
          </a:prstGeom>
          <a:solidFill>
            <a:srgbClr val="F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743200"/>
            <a:ext cx="4434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No diagnosis, treatment, or emergency response</a:t>
            </a:r>
          </a:p>
        </p:txBody>
      </p:sp>
      <p:sp>
        <p:nvSpPr>
          <p:cNvPr id="24" name="Oval 23"/>
          <p:cNvSpPr/>
          <p:nvPr/>
        </p:nvSpPr>
        <p:spPr>
          <a:xfrm>
            <a:off x="6656832" y="3451860"/>
            <a:ext cx="155448" cy="155448"/>
          </a:xfrm>
          <a:prstGeom prst="ellipse">
            <a:avLst/>
          </a:prstGeom>
          <a:solidFill>
            <a:srgbClr val="F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3401568"/>
            <a:ext cx="4434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No medical-device, regulatory, or clinical-validation claim</a:t>
            </a:r>
          </a:p>
        </p:txBody>
      </p:sp>
      <p:sp>
        <p:nvSpPr>
          <p:cNvPr id="26" name="Oval 25"/>
          <p:cNvSpPr/>
          <p:nvPr/>
        </p:nvSpPr>
        <p:spPr>
          <a:xfrm>
            <a:off x="6656832" y="4110227"/>
            <a:ext cx="155448" cy="155448"/>
          </a:xfrm>
          <a:prstGeom prst="ellipse">
            <a:avLst/>
          </a:prstGeom>
          <a:solidFill>
            <a:srgbClr val="FF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4059935"/>
            <a:ext cx="4434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B7C7C8"/>
                </a:solidFill>
                <a:latin typeface="Arial"/>
              </a:rPr>
              <a:t>No ABHA · no EHR · no wearable · no backend patient database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" y="5079492"/>
            <a:ext cx="11064240" cy="106070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11064240" cy="1060704"/>
          </a:xfrm>
          <a:prstGeom prst="rect">
            <a:avLst/>
          </a:prstGeom>
          <a:solidFill>
            <a:srgbClr val="F4C95D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1937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80F12"/>
                </a:solidFill>
                <a:latin typeface="Arial"/>
              </a:rPr>
              <a:t>Designed as a foundation for future real-world integration.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961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80F12"/>
                </a:solidFill>
                <a:latin typeface="Arial"/>
              </a:rPr>
              <a:t>Wearables, longitudinal patient data, cloud sync, ABHA/ABDM and clinically validated models are future scope — clearly separated from what ships today.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327648"/>
            <a:ext cx="11064240" cy="18288"/>
          </a:xfrm>
          <a:prstGeom prst="rect">
            <a:avLst/>
          </a:prstGeom>
          <a:solidFill>
            <a:srgbClr val="2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4008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VITALTWIN  ·  DIGITAL TWIN CHALLENGE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0080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00800"/>
            <a:ext cx="1207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7F9698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C9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E7FF"/>
                </a:solidFill>
                <a:latin typeface="Arial"/>
              </a:rPr>
              <a:t>11 ·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E9F6F8"/>
                </a:solidFill>
                <a:latin typeface="Arial"/>
              </a:rPr>
              <a:t>FROM GENERIC THRESHOLDS
TO PERSONAL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151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C95D"/>
                </a:solidFill>
                <a:latin typeface="Arial"/>
              </a:rPr>
              <a:t>VitalTwin turns a patient's baseline into an interactive digital health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3360420"/>
            <a:ext cx="2395728" cy="109728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310128"/>
            <a:ext cx="2395728" cy="1097280"/>
          </a:xfrm>
          <a:prstGeom prst="rect">
            <a:avLst/>
          </a:prstGeom>
          <a:solidFill>
            <a:srgbClr val="0B171A"/>
          </a:solidFill>
          <a:ln w="3175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DIGITAL
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3639312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4C95D"/>
                </a:solidFill>
                <a:latin typeface="Arial"/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7308" y="3360420"/>
            <a:ext cx="2395728" cy="109728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57016" y="3310128"/>
            <a:ext cx="2395728" cy="1097280"/>
          </a:xfrm>
          <a:prstGeom prst="rect">
            <a:avLst/>
          </a:prstGeom>
          <a:solidFill>
            <a:srgbClr val="0B171A"/>
          </a:solidFill>
          <a:ln w="3175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3310128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PERSONAL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3639312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4C95D"/>
                </a:solidFill>
                <a:latin typeface="Arial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7083" y="3360420"/>
            <a:ext cx="2395728" cy="109728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3310128"/>
            <a:ext cx="2395728" cy="1097280"/>
          </a:xfrm>
          <a:prstGeom prst="rect">
            <a:avLst/>
          </a:prstGeom>
          <a:solidFill>
            <a:srgbClr val="0B171A"/>
          </a:solidFill>
          <a:ln w="31750">
            <a:solidFill>
              <a:srgbClr val="6B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310128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CONTINUOUS
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639312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4C95D"/>
                </a:solidFill>
                <a:latin typeface="Arial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66859" y="3360420"/>
            <a:ext cx="2395728" cy="1097280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7" y="3310128"/>
            <a:ext cx="2395728" cy="1097280"/>
          </a:xfrm>
          <a:prstGeom prst="rect">
            <a:avLst/>
          </a:prstGeom>
          <a:solidFill>
            <a:srgbClr val="0B171A"/>
          </a:solidFill>
          <a:ln w="31750">
            <a:solidFill>
              <a:srgbClr val="39D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7" y="3310128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EXPLAINABLE
INTELLIGENCE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" y="4677155"/>
            <a:ext cx="10972800" cy="786384"/>
          </a:xfrm>
          <a:prstGeom prst="rect">
            <a:avLst/>
          </a:prstGeom>
          <a:solidFill>
            <a:srgbClr val="08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626864"/>
            <a:ext cx="10972800" cy="786384"/>
          </a:xfrm>
          <a:prstGeom prst="rect">
            <a:avLst/>
          </a:prstGeom>
          <a:solidFill>
            <a:srgbClr val="F4C95D"/>
          </a:solidFill>
          <a:ln w="31750">
            <a:solidFill>
              <a:srgbClr val="080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26864"/>
            <a:ext cx="10972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80F12"/>
                </a:solidFill>
                <a:latin typeface="Arial"/>
              </a:rPr>
              <a:t>=   PROACTIVE HEALTH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50992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9F6F8"/>
                </a:solidFill>
                <a:latin typeface="Arial"/>
              </a:rPr>
              <a:t>TEAM AFTER ECLIPSE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B7C7C8"/>
                </a:solidFill>
                <a:latin typeface="Arial"/>
              </a:rPr>
              <a:t>Akash Selvaraj R  ·  SRM Institute of Science and Technology</a:t>
            </a:r>
          </a:p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E7FF"/>
                </a:solidFill>
                <a:latin typeface="Arial"/>
              </a:rPr>
              <a:t>Digital Twin Challenge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50992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B7C7C8"/>
                </a:solidFill>
                <a:latin typeface="Consolas"/>
              </a:rPr>
              <a:t>github.com/Akash-Selvaraj-R/VitalTwin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F9698"/>
                </a:solidFill>
                <a:latin typeface="Arial"/>
              </a:rPr>
              <a:t>Simulated data  ·  Non-diagnostic prototype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F9698"/>
                </a:solidFill>
                <a:latin typeface="Arial"/>
              </a:rPr>
              <a:t>Not a medical 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